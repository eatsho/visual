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11480"/>
            <a:ext cx="11384280" cy="6035040"/>
          </a:xfrm>
          <a:prstGeom prst="roundRect">
            <a:avLst/>
          </a:prstGeom>
          <a:solidFill>
            <a:srgbClr val="19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13232"/>
            <a:ext cx="1600200" cy="438912"/>
          </a:xfrm>
          <a:prstGeom prst="roundRect">
            <a:avLst/>
          </a:prstGeom>
          <a:solidFill>
            <a:srgbClr val="F7C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22376"/>
            <a:ext cx="160020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A4E"/>
                </a:solidFill>
                <a:latin typeface="Aptos Display"/>
              </a:rPr>
              <a:t>CLASS 9 • ICT</a:t>
            </a:r>
            <a:endParaRPr sz="15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Bubble Sort</a:t>
            </a:r>
            <a:endParaRPr sz="3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7C23E"/>
                </a:solidFill>
                <a:latin typeface="Aptos Display"/>
              </a:rPr>
              <a:t>vs.</a:t>
            </a:r>
            <a:endParaRPr sz="2400" b="1">
              <a:solidFill>
                <a:srgbClr val="F7C23E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5394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Insertion Sort</a:t>
            </a:r>
            <a:endParaRPr sz="3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703320"/>
            <a:ext cx="5303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Aptos Display"/>
              </a:rPr>
              <a:t>Two different ways to put data in order</a:t>
            </a:r>
            <a:endParaRPr sz="2000" b="0">
              <a:solidFill>
                <a:srgbClr val="DCE6F5"/>
              </a:solidFill>
              <a:latin typeface="Aptos Display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37960" y="1234440"/>
            <a:ext cx="4389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444752"/>
            <a:ext cx="132588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453896"/>
            <a:ext cx="13258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BUBBLE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0" y="2148840"/>
            <a:ext cx="566928" cy="50292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5798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79" y="2148840"/>
            <a:ext cx="566928" cy="50292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15798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0" y="214884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15798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78240" y="214884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15798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18320" y="214884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5798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0"/>
            <a:ext cx="3657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32A37"/>
                </a:solidFill>
                <a:latin typeface="Aptos Display"/>
              </a:rPr>
              <a:t>Compare neighbours → swap</a:t>
            </a:r>
            <a:endParaRPr sz="15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37960" y="3429000"/>
            <a:ext cx="4389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3639312"/>
            <a:ext cx="1600200" cy="438912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648456"/>
            <a:ext cx="160020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INSERTION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0" y="434340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35254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498079" y="434340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35254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38160" y="434340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35254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78240" y="4343400"/>
            <a:ext cx="566928" cy="50292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435254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18320" y="4343400"/>
            <a:ext cx="566928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352544"/>
            <a:ext cx="566928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8000" y="4937760"/>
            <a:ext cx="3657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32A37"/>
                </a:solidFill>
                <a:latin typeface="Aptos Display"/>
              </a:rPr>
              <a:t>Pick one → insert in place</a:t>
            </a:r>
            <a:endParaRPr sz="15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DCE6F5"/>
                </a:solidFill>
                <a:latin typeface="Aptos Display"/>
              </a:rPr>
              <a:t>Learning goal: explain how they work and when each is useful.</a:t>
            </a:r>
            <a:endParaRPr sz="1600" b="0">
              <a:solidFill>
                <a:srgbClr val="DCE6F5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92A4E"/>
                </a:solidFill>
                <a:latin typeface="Aptos Display"/>
              </a:rPr>
              <a:t>1. What is the idea?</a:t>
            </a:r>
            <a:endParaRPr sz="2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E7887"/>
                </a:solidFill>
                <a:latin typeface="Aptos Display"/>
              </a:rPr>
              <a:t>Both algorithms have the same goal: arrange data in ascending order.</a:t>
            </a:r>
            <a:endParaRPr sz="1400" b="0">
              <a:solidFill>
                <a:srgbClr val="6E7887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949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214884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214884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🫧 BUBBLE SORT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92A4E"/>
                </a:solidFill>
                <a:latin typeface="Aptos Display"/>
              </a:rPr>
              <a:t>“Big values bubble to the end.”</a:t>
            </a:r>
            <a:endParaRPr sz="21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640080" cy="566928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09928" y="2743200"/>
            <a:ext cx="640080" cy="566928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59736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09544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9544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959352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40156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0AA"/>
                </a:solidFill>
                <a:latin typeface="Aptos Display"/>
              </a:rPr>
              <a:t>1</a:t>
            </a:r>
            <a:endParaRPr sz="1500" b="1">
              <a:solidFill>
                <a:srgbClr val="EF80AA"/>
              </a:solidFill>
              <a:latin typeface="Aptos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54480" y="333756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32A37"/>
                </a:solidFill>
                <a:latin typeface="Aptos Display"/>
              </a:rPr>
              <a:t>Compare adjacent values</a:t>
            </a:r>
            <a:endParaRPr sz="17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709928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09928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59736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9736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209544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959352" y="3977639"/>
            <a:ext cx="640080" cy="566928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9352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4480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6E7887"/>
                </a:solidFill>
                <a:latin typeface="Aptos Display"/>
              </a:rPr>
              <a:t>After repeated passes, the largest values move right.</a:t>
            </a:r>
            <a:endParaRPr sz="1600" b="0">
              <a:solidFill>
                <a:srgbClr val="6E7887"/>
              </a:solidFill>
              <a:latin typeface="Aptos Display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63640" y="1234440"/>
            <a:ext cx="53949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B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1508760"/>
            <a:ext cx="2331720" cy="438912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17904"/>
            <a:ext cx="23317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🃏 INSERTION SORT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057400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92A4E"/>
                </a:solidFill>
                <a:latin typeface="Aptos Display"/>
              </a:rPr>
              <a:t>“Sort like arranging cards.”</a:t>
            </a:r>
            <a:endParaRPr sz="21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675120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424927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927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74736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6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924544" y="2743200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674352" y="2743200"/>
            <a:ext cx="640080" cy="566928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74352" y="2752344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3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20840" y="340156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FB5A9"/>
                </a:solidFill>
                <a:latin typeface="Aptos Display"/>
              </a:rPr>
              <a:t>1</a:t>
            </a:r>
            <a:endParaRPr sz="1500" b="1">
              <a:solidFill>
                <a:srgbClr val="3FB5A9"/>
              </a:solidFill>
              <a:latin typeface="Aptos Display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23760" y="3337560"/>
            <a:ext cx="2377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32A37"/>
                </a:solidFill>
                <a:latin typeface="Aptos Display"/>
              </a:rPr>
              <a:t>Take the next value</a:t>
            </a:r>
            <a:endParaRPr sz="17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675120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424927" y="3977639"/>
            <a:ext cx="640080" cy="566928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24927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3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74736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924544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4544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6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674352" y="3977639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74352" y="3986783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629400" y="4892040"/>
            <a:ext cx="4480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6E7887"/>
                </a:solidFill>
                <a:latin typeface="Aptos Display"/>
              </a:rPr>
              <a:t>Shift larger values right, then insert the value.</a:t>
            </a:r>
            <a:endParaRPr sz="1600" b="0">
              <a:solidFill>
                <a:srgbClr val="6E7887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92A4E"/>
                </a:solidFill>
                <a:latin typeface="Aptos Display"/>
              </a:rPr>
              <a:t>2. Bubble Sort — Watch the “bubbling”</a:t>
            </a:r>
            <a:endParaRPr sz="2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E7887"/>
                </a:solidFill>
                <a:latin typeface="Aptos Display"/>
              </a:rPr>
              <a:t>Visual clue: compare neighbours and swap when the left value is larger.</a:t>
            </a:r>
            <a:endParaRPr sz="1400" b="0">
              <a:solidFill>
                <a:srgbClr val="6E7887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2708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600200"/>
            <a:ext cx="86868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9344"/>
            <a:ext cx="8686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Step 1</a:t>
            </a:r>
            <a:endParaRPr sz="13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32A37"/>
                </a:solidFill>
                <a:latin typeface="Aptos Display"/>
              </a:rPr>
              <a:t>5 &gt; 1 → swap</a:t>
            </a:r>
            <a:endParaRPr sz="16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57800" y="1527048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53619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24728" y="1527048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53619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91656" y="1527048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53619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58584" y="1527048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153619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525512" y="1527048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53619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2542032"/>
            <a:ext cx="86868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551176"/>
            <a:ext cx="8686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Step 2</a:t>
            </a:r>
            <a:endParaRPr sz="13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2542032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32A37"/>
                </a:solidFill>
                <a:latin typeface="Aptos Display"/>
              </a:rPr>
              <a:t>5 &gt; 4 → swap</a:t>
            </a:r>
            <a:endParaRPr sz="16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57800" y="2468880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478024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24728" y="2468880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4728" y="2478024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91656" y="2468880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2478024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58584" y="2468880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8584" y="2478024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525512" y="2468880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25512" y="2478024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6112" y="3483864"/>
            <a:ext cx="86868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493008"/>
            <a:ext cx="8686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Step 3</a:t>
            </a:r>
            <a:endParaRPr sz="13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20240" y="3483864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32A37"/>
                </a:solidFill>
                <a:latin typeface="Aptos Display"/>
              </a:rPr>
              <a:t>5 &gt; 2 → swap</a:t>
            </a:r>
            <a:endParaRPr sz="16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257800" y="3410712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3419856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824728" y="3410712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24728" y="3419856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391656" y="3410712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3419856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958584" y="3410712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58584" y="3419856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525512" y="3410712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25512" y="3419856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96112" y="4425696"/>
            <a:ext cx="868680" cy="438912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434840"/>
            <a:ext cx="8686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Step 4</a:t>
            </a:r>
            <a:endParaRPr sz="13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20240" y="4425696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32A37"/>
                </a:solidFill>
                <a:latin typeface="Aptos Display"/>
              </a:rPr>
              <a:t>Largest value reaches the end</a:t>
            </a:r>
            <a:endParaRPr sz="1600" b="1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257800" y="4352544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7800" y="4361688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1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824728" y="4352544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4728" y="4361688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391656" y="4352544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1656" y="4361688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958584" y="4352544"/>
            <a:ext cx="502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58584" y="4361688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5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525512" y="4352544"/>
            <a:ext cx="502920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25512" y="4361688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8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4400" y="5925312"/>
            <a:ext cx="10332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92A4E"/>
                </a:solidFill>
                <a:latin typeface="Aptos Display"/>
              </a:rPr>
              <a:t>Memory trick: BUBBLE = BIG values move toward the BACK.</a:t>
            </a:r>
            <a:endParaRPr sz="1800" b="1">
              <a:solidFill>
                <a:srgbClr val="192A4E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92A4E"/>
                </a:solidFill>
                <a:latin typeface="Aptos Display"/>
              </a:rPr>
              <a:t>3. Insertion Sort — Like sorting playing cards</a:t>
            </a:r>
            <a:endParaRPr sz="2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E7887"/>
                </a:solidFill>
                <a:latin typeface="Aptos Display"/>
              </a:rPr>
              <a:t>Build a sorted section, one item at a time.</a:t>
            </a:r>
            <a:endParaRPr sz="1400" b="0">
              <a:solidFill>
                <a:srgbClr val="6E7887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B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02920" cy="438912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55064"/>
            <a:ext cx="5029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  <a:endParaRPr sz="1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92A4E"/>
                </a:solidFill>
                <a:latin typeface="Aptos Display"/>
              </a:rPr>
              <a:t>Start</a:t>
            </a:r>
            <a:endParaRPr sz="1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417319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19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96596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6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1460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63239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3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49039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3FB5A9"/>
                </a:solidFill>
                <a:latin typeface="Aptos Display"/>
              </a:rPr>
              <a:t>→</a:t>
            </a:r>
            <a:endParaRPr sz="2800" b="1">
              <a:solidFill>
                <a:srgbClr val="3FB5A9"/>
              </a:solidFill>
              <a:latin typeface="Aptos Displa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80560" y="1645920"/>
            <a:ext cx="502920" cy="438912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655064"/>
            <a:ext cx="5029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  <a:endParaRPr sz="1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0" y="162763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92A4E"/>
                </a:solidFill>
                <a:latin typeface="Aptos Display"/>
              </a:rPr>
              <a:t>Pick 3</a:t>
            </a:r>
            <a:endParaRPr sz="1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8056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57784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6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75120" y="2423160"/>
            <a:ext cx="475488" cy="457200"/>
          </a:xfrm>
          <a:prstGeom prst="roundRect">
            <a:avLst/>
          </a:prstGeom>
          <a:solidFill>
            <a:srgbClr val="F7C23E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3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60920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3FB5A9"/>
                </a:solidFill>
                <a:latin typeface="Aptos Display"/>
              </a:rPr>
              <a:t>→</a:t>
            </a:r>
            <a:endParaRPr sz="2800" b="1">
              <a:solidFill>
                <a:srgbClr val="3FB5A9"/>
              </a:solidFill>
              <a:latin typeface="Aptos Display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92440" y="1645920"/>
            <a:ext cx="502920" cy="438912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1655064"/>
            <a:ext cx="5029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  <a:endParaRPr sz="1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32519" y="162763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92A4E"/>
                </a:solidFill>
                <a:latin typeface="Aptos Display"/>
              </a:rPr>
              <a:t>Insert 3</a:t>
            </a:r>
            <a:endParaRPr sz="1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9244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2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64108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3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189719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4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738359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59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6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287000" y="2423160"/>
            <a:ext cx="475488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2432303"/>
            <a:ext cx="47548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92A4E"/>
                </a:solidFill>
                <a:latin typeface="Aptos Display"/>
              </a:rPr>
              <a:t>7</a:t>
            </a:r>
            <a:endParaRPr sz="20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14400" y="3657600"/>
            <a:ext cx="9966960" cy="1600200"/>
          </a:xfrm>
          <a:prstGeom prst="roundRect">
            <a:avLst/>
          </a:prstGeom>
          <a:solidFill>
            <a:srgbClr val="E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38862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FB5A9"/>
                </a:solidFill>
                <a:latin typeface="Aptos Display"/>
              </a:rPr>
              <a:t>HOW IT WORKS</a:t>
            </a:r>
            <a:endParaRPr sz="1600" b="1">
              <a:solidFill>
                <a:srgbClr val="3FB5A9"/>
              </a:solidFill>
              <a:latin typeface="Aptos Display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43000" y="4297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232A37"/>
                </a:solidFill>
                <a:latin typeface="Aptos"/>
              </a:defRPr>
            </a:pPr>
            <a:r>
              <a:t>• Choose the next item.</a:t>
            </a:r>
          </a:p>
          <a:p>
            <a:pPr>
              <a:spcAft>
                <a:spcPts val="300"/>
              </a:spcAft>
              <a:defRPr sz="1600">
                <a:solidFill>
                  <a:srgbClr val="232A37"/>
                </a:solidFill>
                <a:latin typeface="Aptos"/>
              </a:defRPr>
            </a:pPr>
            <a:r>
              <a:t>• Move larger items one position to the right.</a:t>
            </a:r>
          </a:p>
          <a:p>
            <a:pPr>
              <a:spcAft>
                <a:spcPts val="300"/>
              </a:spcAft>
              <a:defRPr sz="1600">
                <a:solidFill>
                  <a:srgbClr val="232A37"/>
                </a:solidFill>
                <a:latin typeface="Aptos"/>
              </a:defRPr>
            </a:pPr>
            <a:r>
              <a:t>• Insert the chosen item into the correct position.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92A4E"/>
                </a:solidFill>
                <a:latin typeface="Aptos Display"/>
              </a:rPr>
              <a:t>Memory trick: INSERTION = pick a card and put it where it belongs.</a:t>
            </a:r>
            <a:endParaRPr sz="1700" b="1">
              <a:solidFill>
                <a:srgbClr val="192A4E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92A4E"/>
                </a:solidFill>
                <a:latin typeface="Aptos Display"/>
              </a:rPr>
              <a:t>4. Quick Comparison</a:t>
            </a:r>
            <a:endParaRPr sz="28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E7887"/>
                </a:solidFill>
                <a:latin typeface="Aptos Display"/>
              </a:rPr>
              <a:t>Look for the differences, not just the definitions.</a:t>
            </a:r>
            <a:endParaRPr sz="1400" b="0">
              <a:solidFill>
                <a:srgbClr val="6E7887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377440" cy="594360"/>
          </a:xfrm>
          <a:prstGeom prst="roundRect">
            <a:avLst/>
          </a:prstGeom>
          <a:solidFill>
            <a:srgbClr val="19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97864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Feature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971800" y="1188720"/>
            <a:ext cx="4389120" cy="594360"/>
          </a:xfrm>
          <a:prstGeom prst="roundRect">
            <a:avLst/>
          </a:prstGeom>
          <a:solidFill>
            <a:srgbClr val="EF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197864"/>
            <a:ext cx="4389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🫧 Bubble Sort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60920" y="1188720"/>
            <a:ext cx="4389120" cy="594360"/>
          </a:xfrm>
          <a:prstGeom prst="roundRect">
            <a:avLst/>
          </a:prstGeom>
          <a:solidFill>
            <a:srgbClr val="3F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197864"/>
            <a:ext cx="4389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🃏 Insertion Sort</a:t>
            </a:r>
            <a:endParaRPr sz="16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23774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56231"/>
            <a:ext cx="2157984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2A4E"/>
                </a:solidFill>
                <a:latin typeface="Aptos Display"/>
              </a:rPr>
              <a:t>Clarity</a:t>
            </a:r>
            <a:endParaRPr sz="14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71800" y="1783080"/>
            <a:ext cx="4389120" cy="932688"/>
          </a:xfrm>
          <a:prstGeom prst="roundRect">
            <a:avLst/>
          </a:prstGeom>
          <a:solidFill>
            <a:srgbClr val="FBEEF4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1856231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Very easy to visualise; the “bubbling” effect is clear.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60920" y="1783080"/>
            <a:ext cx="4389120" cy="932688"/>
          </a:xfrm>
          <a:prstGeom prst="roundRect">
            <a:avLst/>
          </a:prstGeom>
          <a:solidFill>
            <a:srgbClr val="EAF8F6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856231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Simple to understand; works like sorting cards.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4360" y="2807208"/>
            <a:ext cx="23774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80360"/>
            <a:ext cx="2157984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2A4E"/>
                </a:solidFill>
                <a:latin typeface="Aptos Display"/>
              </a:rPr>
              <a:t>Data structuring</a:t>
            </a:r>
            <a:endParaRPr sz="14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71800" y="2807208"/>
            <a:ext cx="4389120" cy="932688"/>
          </a:xfrm>
          <a:prstGeom prst="roundRect">
            <a:avLst/>
          </a:prstGeom>
          <a:solidFill>
            <a:srgbClr val="FBEEF4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1528" y="2880360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Slow on arrays; repeated swapping makes it unsuitable for linked lists.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60920" y="2807208"/>
            <a:ext cx="4389120" cy="932688"/>
          </a:xfrm>
          <a:prstGeom prst="roundRect">
            <a:avLst/>
          </a:prstGeom>
          <a:solidFill>
            <a:srgbClr val="EAF8F6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880360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Efficient on linked lists and small or nearly sorted arrays.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3831336"/>
            <a:ext cx="23774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904488"/>
            <a:ext cx="2157984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2A4E"/>
                </a:solidFill>
                <a:latin typeface="Aptos Display"/>
              </a:rPr>
              <a:t>Time efficiency</a:t>
            </a:r>
            <a:endParaRPr sz="14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71800" y="3831336"/>
            <a:ext cx="4389120" cy="932688"/>
          </a:xfrm>
          <a:prstGeom prst="roundRect">
            <a:avLst/>
          </a:prstGeom>
          <a:solidFill>
            <a:srgbClr val="FBEEF4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3904488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Usually slower because it makes repeated passes.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60920" y="3831336"/>
            <a:ext cx="4389120" cy="932688"/>
          </a:xfrm>
          <a:prstGeom prst="roundRect">
            <a:avLst/>
          </a:prstGeom>
          <a:solidFill>
            <a:srgbClr val="EAF8F6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904488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Usually faster in practice, especially for small/nearly sorted data.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" y="4855464"/>
            <a:ext cx="23774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928616"/>
            <a:ext cx="2157984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2A4E"/>
                </a:solidFill>
                <a:latin typeface="Aptos Display"/>
              </a:rPr>
              <a:t>Best use case</a:t>
            </a:r>
            <a:endParaRPr sz="1400" b="1">
              <a:solidFill>
                <a:srgbClr val="192A4E"/>
              </a:solidFill>
              <a:latin typeface="Aptos Display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71800" y="4855464"/>
            <a:ext cx="4389120" cy="932688"/>
          </a:xfrm>
          <a:prstGeom prst="roundRect">
            <a:avLst/>
          </a:prstGeom>
          <a:solidFill>
            <a:srgbClr val="FBEEF4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4928616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Good for learning sorting concepts; not suited to large datasets.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60920" y="4855464"/>
            <a:ext cx="4389120" cy="932688"/>
          </a:xfrm>
          <a:prstGeom prst="roundRect">
            <a:avLst/>
          </a:prstGeom>
          <a:solidFill>
            <a:srgbClr val="EAF8F6"/>
          </a:solidFill>
          <a:ln w="1905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4928616"/>
            <a:ext cx="4169663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A37"/>
                </a:solidFill>
                <a:latin typeface="Aptos Display"/>
              </a:rPr>
              <a:t>Useful for small/nearly sorted lists and incremental data.</a:t>
            </a:r>
            <a:endParaRPr sz="1400" b="0">
              <a:solidFill>
                <a:srgbClr val="232A37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WPS Presentation</Application>
  <PresentationFormat>On-screen Show (4:3)</PresentationFormat>
  <Paragraphs>258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Microsoft YaHei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Tshering Lhamo</cp:lastModifiedBy>
  <cp:revision>2</cp:revision>
  <dcterms:created xsi:type="dcterms:W3CDTF">2013-01-27T09:14:00Z</dcterms:created>
  <dcterms:modified xsi:type="dcterms:W3CDTF">2026-10-02T19:30:36Z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7748920E608B4ABD9D76DCF67F5D971D_12</vt:lpwstr>
  </property>
</Properties>
</file>