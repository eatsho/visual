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</p:sldIdLst>
  <p:sldSz cx="12192000" cy="6858000" type="screen4x3"/>
  <p:notesSz cx="6858000" cy="9144000"/>
  <p:embeddedFontLst>
    <p:embeddedFont>
      <p:font typeface="Calibri" panose="020F050202020403020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375570"/>
            <a:ext cx="571500" cy="476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1834" y="952500"/>
            <a:ext cx="4684365" cy="495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884" y="971550"/>
            <a:ext cx="4646265" cy="4914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3651795"/>
            <a:ext cx="5774084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7F3D0"/>
                </a:solidFill>
                <a:latin typeface="Plus Jakarta Sans"/>
              </a:rPr>
              <a:t>Fundamental step-by-step programming methods used to process, search, and manage data efficiently in Python and modern computing.</a:t>
            </a:r>
            <a:endParaRPr sz="1650" b="0" i="0" u="none">
              <a:solidFill>
                <a:srgbClr val="A7F3D0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263080"/>
            <a:ext cx="70985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BBF24"/>
                </a:solidFill>
                <a:latin typeface="Space Grotesk"/>
              </a:rPr>
              <a:t>BHUTAN COMPUTER SCIENCE SERIES</a:t>
            </a:r>
            <a:endParaRPr sz="1200" b="1" i="0" u="none">
              <a:solidFill>
                <a:srgbClr val="FBBF24"/>
              </a:solidFill>
              <a:latin typeface="Space Grotes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539305"/>
            <a:ext cx="7453470" cy="607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785"/>
              </a:lnSpc>
            </a:pPr>
            <a:r>
              <a:rPr sz="4350" b="1" i="0" u="none">
                <a:solidFill>
                  <a:srgbClr val="FFFFFF"/>
                </a:solidFill>
                <a:latin typeface="Plus Jakarta Sans"/>
              </a:rPr>
              <a:t>Standard Algorithms</a:t>
            </a:r>
            <a:endParaRPr sz="4350" b="1" i="0" u="none">
              <a:solidFill>
                <a:srgbClr val="FFFFFF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01100" y="857250"/>
            <a:ext cx="2705100" cy="409575"/>
          </a:xfrm>
          <a:prstGeom prst="roundRect">
            <a:avLst>
              <a:gd name="adj" fmla="val 27906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720750"/>
            <a:ext cx="5741640" cy="1444674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720750"/>
            <a:ext cx="76200" cy="144467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3355925"/>
            <a:ext cx="5741640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4327475"/>
            <a:ext cx="5741640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5299025"/>
            <a:ext cx="5741640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340" y="1833562"/>
            <a:ext cx="4735859" cy="419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390" y="1852612"/>
            <a:ext cx="4697759" cy="415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555950"/>
            <a:ext cx="438150" cy="438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4527500"/>
            <a:ext cx="438150" cy="4381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5499050"/>
            <a:ext cx="438150" cy="4381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937" y="3670250"/>
            <a:ext cx="2381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4641800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" y="5613350"/>
            <a:ext cx="161925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800" y="533400"/>
            <a:ext cx="5686425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47857"/>
                </a:solidFill>
                <a:latin typeface="Plus Jakarta Sans"/>
              </a:rPr>
              <a:t> Definition </a:t>
            </a:r>
            <a:endParaRPr sz="1200" b="1" i="0" u="none">
              <a:solidFill>
                <a:srgbClr val="047857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91600" y="952500"/>
            <a:ext cx="2419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Plus Jakarta Sans"/>
              </a:rPr>
              <a:t>Bhutanese Application Context</a:t>
            </a:r>
            <a:endParaRPr sz="1200" b="1" i="0" u="none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781050"/>
            <a:ext cx="733841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64E3B"/>
                </a:solidFill>
                <a:latin typeface="Plus Jakarta Sans"/>
              </a:rPr>
              <a:t>What is a Standard Algorithm?</a:t>
            </a:r>
            <a:endParaRPr sz="3000" b="1" i="0" u="none">
              <a:solidFill>
                <a:srgbClr val="064E3B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6800" y="1987450"/>
            <a:ext cx="5151090" cy="911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90"/>
              </a:lnSpc>
            </a:pPr>
            <a:r>
              <a:rPr sz="1650" b="1" i="0" u="none">
                <a:solidFill>
                  <a:srgbClr val="064E3B"/>
                </a:solidFill>
                <a:latin typeface="Plus Jakarta Sans"/>
              </a:rPr>
              <a:t>A standard algorithm is a reliable, step-by-step method used repeatedly to solve fundamental computing problems.</a:t>
            </a:r>
            <a:endParaRPr sz="1650" b="1" i="0" u="none">
              <a:solidFill>
                <a:srgbClr val="064E3B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33525" y="3660725"/>
            <a:ext cx="4810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F2937"/>
                </a:solidFill>
                <a:latin typeface="Plus Jakarta Sans"/>
              </a:rPr>
              <a:t>Sorting national student examination scores</a:t>
            </a:r>
            <a:endParaRPr sz="1425" b="1" i="0" u="none">
              <a:solidFill>
                <a:srgbClr val="1F2937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33525" y="4632275"/>
            <a:ext cx="5167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F2937"/>
                </a:solidFill>
                <a:latin typeface="Plus Jakarta Sans"/>
              </a:rPr>
              <a:t>Searching citizen directory and service records</a:t>
            </a:r>
            <a:endParaRPr sz="1425" b="1" i="0" u="none">
              <a:solidFill>
                <a:srgbClr val="1F2937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33525" y="5603825"/>
            <a:ext cx="5524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F2937"/>
                </a:solidFill>
                <a:latin typeface="Plus Jakarta Sans"/>
              </a:rPr>
              <a:t>Calculating seasonal agricultural and weather data</a:t>
            </a:r>
            <a:endParaRPr sz="1425" b="1" i="0" u="none">
              <a:solidFill>
                <a:srgbClr val="1F2937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79451"/>
            <a:ext cx="5353050" cy="1497210"/>
          </a:xfrm>
          <a:prstGeom prst="roundRect">
            <a:avLst>
              <a:gd name="adj" fmla="val 12723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279451"/>
            <a:ext cx="5353050" cy="1497210"/>
          </a:xfrm>
          <a:prstGeom prst="roundRect">
            <a:avLst>
              <a:gd name="adj" fmla="val 12723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43362"/>
            <a:ext cx="5353050" cy="1497210"/>
          </a:xfrm>
          <a:prstGeom prst="roundRect">
            <a:avLst>
              <a:gd name="adj" fmla="val 12723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29350" y="4043362"/>
            <a:ext cx="5353050" cy="1497210"/>
          </a:xfrm>
          <a:prstGeom prst="roundRect">
            <a:avLst>
              <a:gd name="adj" fmla="val 12723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0" y="2704207"/>
            <a:ext cx="647700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00" y="2704207"/>
            <a:ext cx="647700" cy="647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4468117"/>
            <a:ext cx="647700" cy="647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4468117"/>
            <a:ext cx="647700" cy="647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2875657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2875657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4639567"/>
            <a:ext cx="3810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4639567"/>
            <a:ext cx="3429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068050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47857"/>
                </a:solidFill>
                <a:latin typeface="Plus Jakarta Sans"/>
              </a:rPr>
              <a:t> Key Benefits </a:t>
            </a:r>
            <a:endParaRPr sz="1200" b="1" i="0" u="none">
              <a:solidFill>
                <a:srgbClr val="047857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64E3B"/>
                </a:solidFill>
                <a:latin typeface="Plus Jakarta Sans"/>
              </a:rPr>
              <a:t>Why Are Standard Algorithms Useful?</a:t>
            </a:r>
            <a:endParaRPr sz="2850" b="1" i="0" u="none">
              <a:solidFill>
                <a:srgbClr val="064E3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09750" y="2603301"/>
            <a:ext cx="502562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4E3B"/>
                </a:solidFill>
                <a:latin typeface="Plus Jakarta Sans"/>
              </a:rPr>
              <a:t>Tested &amp; Proven</a:t>
            </a:r>
            <a:endParaRPr sz="1650" b="1" i="0" u="none">
              <a:solidFill>
                <a:srgbClr val="064E3B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09750" y="2946201"/>
            <a:ext cx="392430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sz="1425" b="1" i="0" u="none">
                <a:solidFill>
                  <a:srgbClr val="374151"/>
                </a:solidFill>
                <a:latin typeface="Plus Jakarta Sans"/>
              </a:rPr>
              <a:t>Reliable logic guaranteed to work across all Python applications.</a:t>
            </a:r>
            <a:endParaRPr sz="1425" b="1" i="0" u="none">
              <a:solidFill>
                <a:srgbClr val="374151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29500" y="2603301"/>
            <a:ext cx="4762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4E3B"/>
                </a:solidFill>
                <a:latin typeface="Plus Jakarta Sans"/>
              </a:rPr>
              <a:t>Highly Reusable</a:t>
            </a:r>
            <a:endParaRPr sz="1650" b="1" i="0" u="none">
              <a:solidFill>
                <a:srgbClr val="064E3B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29500" y="2946201"/>
            <a:ext cx="392430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sz="1425" b="1" i="0" u="none">
                <a:solidFill>
                  <a:srgbClr val="374151"/>
                </a:solidFill>
                <a:latin typeface="Plus Jakarta Sans"/>
              </a:rPr>
              <a:t>Reuse the same code pattern across educational and software systems.</a:t>
            </a:r>
            <a:endParaRPr sz="1425" b="1" i="0" u="none">
              <a:solidFill>
                <a:srgbClr val="374151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750" y="4367212"/>
            <a:ext cx="502562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4E3B"/>
                </a:solidFill>
                <a:latin typeface="Plus Jakarta Sans"/>
              </a:rPr>
              <a:t>Easier Debugging</a:t>
            </a:r>
            <a:endParaRPr sz="1650" b="1" i="0" u="none">
              <a:solidFill>
                <a:srgbClr val="064E3B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09750" y="4710112"/>
            <a:ext cx="392430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sz="1425" b="1" i="0" u="none">
                <a:solidFill>
                  <a:srgbClr val="374151"/>
                </a:solidFill>
                <a:latin typeface="Plus Jakarta Sans"/>
              </a:rPr>
              <a:t>Makes finding and fixing errors simple for student programmers.</a:t>
            </a:r>
            <a:endParaRPr sz="1425" b="1" i="0" u="none">
              <a:solidFill>
                <a:srgbClr val="374151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29500" y="4367212"/>
            <a:ext cx="4762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4E3B"/>
                </a:solidFill>
                <a:latin typeface="Plus Jakarta Sans"/>
              </a:rPr>
              <a:t>Logical Thinking</a:t>
            </a:r>
            <a:endParaRPr sz="1650" b="1" i="0" u="none">
              <a:solidFill>
                <a:srgbClr val="064E3B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29500" y="4710112"/>
            <a:ext cx="3924300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sz="1425" b="1" i="0" u="none">
                <a:solidFill>
                  <a:srgbClr val="374151"/>
                </a:solidFill>
                <a:latin typeface="Plus Jakarta Sans"/>
              </a:rPr>
              <a:t>Develops structured, step-by-step problem-solving skills.</a:t>
            </a:r>
            <a:endParaRPr sz="1425" b="1" i="0" u="none">
              <a:solidFill>
                <a:srgbClr val="374151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</Words>
  <Application>WPS Presentation</Application>
  <PresentationFormat>On-screen Show (4:3)</PresentationFormat>
  <Paragraphs>40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SimSun</vt:lpstr>
      <vt:lpstr>Wingdings</vt:lpstr>
      <vt:lpstr>Arial</vt:lpstr>
      <vt:lpstr>Plus Jakarta Sans</vt:lpstr>
      <vt:lpstr>Segoe Print</vt:lpstr>
      <vt:lpstr>Space Grotesk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Tshering Lhamo</cp:lastModifiedBy>
  <cp:revision>2</cp:revision>
  <dcterms:created xsi:type="dcterms:W3CDTF">2013-01-27T09:14:00Z</dcterms:created>
  <dcterms:modified xsi:type="dcterms:W3CDTF">2026-10-02T19:30:45Z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AF624D73FB084C94911DC92B59C654AE_12</vt:lpwstr>
  </property>
</Properties>
</file>